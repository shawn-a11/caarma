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64592" cy="246888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03120"/>
            <a:ext cx="10972800" cy="1645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How HuBERT Serves as the</a:t>
            </a:r>
          </a:p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CAARMA Discriminator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0"/>
            <a:ext cx="109728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1">
                <a:solidFill>
                  <a:srgbClr val="E76F51"/>
                </a:solidFill>
                <a:latin typeface="Calibri"/>
              </a:rPr>
              <a:t>Architecture, training mechanism, and gradient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7280"/>
                </a:solidFill>
                <a:latin typeface="Calibri"/>
              </a:rPr>
              <a:t>CAARMA Reproduction &amp; Extension Study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212121"/>
                </a:solidFill>
                <a:latin typeface="Calibri"/>
              </a:rPr>
              <a:t>Five questions about the discriminator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B7280"/>
                </a:solidFill>
                <a:latin typeface="Calibri"/>
              </a:rPr>
              <a:t>How a pretrained SSL backbone functions as the adversarial critic in CAARMA.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19072"/>
            <a:ext cx="640080" cy="384048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Q1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600200"/>
            <a:ext cx="100584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12121"/>
                </a:solidFill>
                <a:latin typeface="Calibri"/>
              </a:rPr>
              <a:t>The input-type contradiction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011680"/>
            <a:ext cx="1024128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36454F"/>
                </a:solidFill>
                <a:latin typeface="Calibri"/>
              </a:rPr>
              <a:t>HuBERT was built to consume speech, but CAARMA feeds it an embedding.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33472"/>
            <a:ext cx="640080" cy="384048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Q2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514600"/>
            <a:ext cx="100584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12121"/>
                </a:solidFill>
                <a:latin typeface="Calibri"/>
              </a:rPr>
              <a:t>The discriminator's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26080"/>
            <a:ext cx="1024128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36454F"/>
                </a:solidFill>
                <a:latin typeface="Calibri"/>
              </a:rPr>
              <a:t>What is the network? Where exactly does HuBERT sit inside it?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547872"/>
            <a:ext cx="640080" cy="384048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Q3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429000"/>
            <a:ext cx="100584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12121"/>
                </a:solidFill>
                <a:latin typeface="Calibri"/>
              </a:rPr>
              <a:t>The training mechanism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840480"/>
            <a:ext cx="1024128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36454F"/>
                </a:solidFill>
                <a:latin typeface="Calibri"/>
              </a:rPr>
              <a:t>How does standard GAN alternation work when D is a pretrained SSL model?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462272"/>
            <a:ext cx="640080" cy="384048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Q4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343400"/>
            <a:ext cx="100584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12121"/>
                </a:solidFill>
                <a:latin typeface="Calibri"/>
              </a:rPr>
              <a:t>Gradient backpropagation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754880"/>
            <a:ext cx="1024128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36454F"/>
                </a:solidFill>
                <a:latin typeface="Calibri"/>
              </a:rPr>
              <a:t>How does HuBERT send gradients back to the encoder?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376672"/>
            <a:ext cx="640080" cy="384048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Q5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257800"/>
            <a:ext cx="100584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12121"/>
                </a:solidFill>
                <a:latin typeface="Calibri"/>
              </a:rPr>
              <a:t>Empirical adversarial dynamics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669280"/>
            <a:ext cx="1024128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36454F"/>
                </a:solidFill>
                <a:latin typeface="Calibri"/>
              </a:rPr>
              <a:t>How the BCE losses evolve across 8 training runs — what does the data say?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11480"/>
            <a:ext cx="777240" cy="347472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65760"/>
            <a:ext cx="105156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212121"/>
                </a:solidFill>
                <a:latin typeface="Calibri"/>
              </a:rPr>
              <a:t>Anchoring in standard GAN terms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8686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B7280"/>
                </a:solidFill>
                <a:latin typeface="Calibri"/>
              </a:rPr>
              <a:t>Same alternating game, different inputs — D's role is conceptually identical.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715000"/>
            <a:ext cx="11247120" cy="1051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36454F"/>
                </a:solidFill>
                <a:latin typeface="Calibri"/>
              </a:rPr>
              <a:t>•  Standard GAN: G generates from noise, D distinguishes real vs fake samples.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36454F"/>
                </a:solidFill>
                <a:latin typeface="Calibri"/>
              </a:rPr>
              <a:t>•  CAARMA: encoder M produces e from audio, mixup produces e_syn from pairs.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36454F"/>
                </a:solidFill>
                <a:latin typeface="Calibri"/>
              </a:rPr>
              <a:t>•  D in both cases is a binary classifier — and is discarded at inference.</a:t>
            </a:r>
          </a:p>
        </p:txBody>
      </p:sp>
      <p:pic>
        <p:nvPicPr>
          <p:cNvPr id="7" name="Picture 6" descr="fig_6_0_gan_rec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9573" y="1280160"/>
            <a:ext cx="6892549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11480"/>
            <a:ext cx="777240" cy="347472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Q1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65760"/>
            <a:ext cx="105156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212121"/>
                </a:solidFill>
                <a:latin typeface="Calibri"/>
              </a:rPr>
              <a:t>Resolving the input-type contradiction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8686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B7280"/>
                </a:solidFill>
                <a:latin typeface="Calibri"/>
              </a:rPr>
              <a:t>HuBERT was designed for speech, but CAARMA feeds it an embedding. Here is how.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715000"/>
            <a:ext cx="11247120" cy="1051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36454F"/>
                </a:solidFill>
                <a:latin typeface="Calibri"/>
              </a:rPr>
              <a:t>•  Standard HuBERT path uses a conv feature extractor on raw waveforms — CAARMA bypasses it.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36454F"/>
                </a:solidFill>
                <a:latin typeface="Calibri"/>
              </a:rPr>
              <a:t>•  An EnhancedAdapter projects the 192-d speaker embedding into HuBERT's 1024-d hidden-state space.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36454F"/>
                </a:solidFill>
                <a:latin typeface="Calibri"/>
              </a:rPr>
              <a:t>•  The 24-layer Transformer encoder is borrowed for its pretrained representations, not its speech I/O.</a:t>
            </a:r>
          </a:p>
        </p:txBody>
      </p:sp>
      <p:pic>
        <p:nvPicPr>
          <p:cNvPr id="7" name="Picture 6" descr="fig_6_1_input_contradi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5368" y="1280160"/>
            <a:ext cx="8140959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11480"/>
            <a:ext cx="777240" cy="347472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Q2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65760"/>
            <a:ext cx="105156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212121"/>
                </a:solidFill>
                <a:latin typeface="Calibri"/>
              </a:rPr>
              <a:t>Where HuBERT sits inside the discriminator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8686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B7280"/>
                </a:solidFill>
                <a:latin typeface="Calibri"/>
              </a:rPr>
              <a:t>D is a small classifier wrapped around a borrowed 24-layer Transformer stack.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715000"/>
            <a:ext cx="11247120" cy="1051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36454F"/>
                </a:solidFill>
                <a:latin typeface="Calibri"/>
              </a:rPr>
              <a:t>•  D total: 326M parameters — 315M HuBERT backbone + ~11M trainable head.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36454F"/>
                </a:solidFill>
                <a:latin typeface="Calibri"/>
              </a:rPr>
              <a:t>•  Adapter sits between input embedding and HuBERT; layer 7/9/11/12 hidden states are pooled.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36454F"/>
                </a:solidFill>
                <a:latin typeface="Calibri"/>
              </a:rPr>
              <a:t>•  HuBERT is frozen in our DDP setup (deadlock fix); trainable in the source repo.</a:t>
            </a:r>
          </a:p>
        </p:txBody>
      </p:sp>
      <p:pic>
        <p:nvPicPr>
          <p:cNvPr id="7" name="Picture 6" descr="fig_6_2_d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0344" y="1280160"/>
            <a:ext cx="4371006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11480"/>
            <a:ext cx="777240" cy="347472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Q3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65760"/>
            <a:ext cx="105156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212121"/>
                </a:solidFill>
                <a:latin typeface="Calibri"/>
              </a:rPr>
              <a:t>How D is trained — standard GAN alternation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8686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B7280"/>
                </a:solidFill>
                <a:latin typeface="Calibri"/>
              </a:rPr>
              <a:t>Each batch: update D, then update M. Never both in the same backward pass.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715000"/>
            <a:ext cx="11247120" cy="1051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36454F"/>
                </a:solidFill>
                <a:latin typeface="Calibri"/>
              </a:rPr>
              <a:t>•  Step 1 (D): encoder runs inside torch.no_grad(); only D's parameters receive gradients.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36454F"/>
                </a:solidFill>
                <a:latin typeface="Calibri"/>
              </a:rPr>
              <a:t>•  Step 2 (M): D is frozen via toggle_optimizer; encoder + AM-Softmax W receive gradients.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36454F"/>
                </a:solidFill>
                <a:latin typeface="Calibri"/>
              </a:rPr>
              <a:t>•  This is exactly the textbook GAN cycle — the SSL backbone simply lives inside D.</a:t>
            </a:r>
          </a:p>
        </p:txBody>
      </p:sp>
      <p:pic>
        <p:nvPicPr>
          <p:cNvPr id="7" name="Picture 6" descr="fig_6_3_training_mechani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6823" y="1280160"/>
            <a:ext cx="6758048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11480"/>
            <a:ext cx="777240" cy="347472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Q4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65760"/>
            <a:ext cx="105156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212121"/>
                </a:solidFill>
                <a:latin typeface="Calibri"/>
              </a:rPr>
              <a:t>How D propagates gradients back to the encoder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8686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B7280"/>
                </a:solidFill>
                <a:latin typeface="Calibri"/>
              </a:rPr>
              <a:t>Frozen does NOT mean blocked — `requires_grad=False` only prevents parameter updates.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715000"/>
            <a:ext cx="11247120" cy="1051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36454F"/>
                </a:solidFill>
                <a:latin typeface="Calibri"/>
              </a:rPr>
              <a:t>•  L_G's gradient propagates through every layer of D, including the frozen HuBERT Transformer.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36454F"/>
                </a:solidFill>
                <a:latin typeface="Calibri"/>
              </a:rPr>
              <a:t>•  The gradient arrives at e and e_syn, then flows back through mixup (SLERP is differentiable).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36454F"/>
                </a:solidFill>
                <a:latin typeface="Calibri"/>
              </a:rPr>
              <a:t>•  This is precisely how a frozen pretrained backbone still trains the encoder through D.</a:t>
            </a:r>
          </a:p>
        </p:txBody>
      </p:sp>
      <p:pic>
        <p:nvPicPr>
          <p:cNvPr id="7" name="Picture 6" descr="fig_6_4_gradient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5098" y="1280160"/>
            <a:ext cx="5541499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11480"/>
            <a:ext cx="777240" cy="347472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Q5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65760"/>
            <a:ext cx="105156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212121"/>
                </a:solidFill>
                <a:latin typeface="Calibri"/>
              </a:rPr>
              <a:t>Adversarial dynamics across 8 training runs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8686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B7280"/>
                </a:solidFill>
                <a:latin typeface="Calibri"/>
              </a:rPr>
              <a:t>How the BCE losses evolve, and what that tells us about the discriminator's behaviour.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715000"/>
            <a:ext cx="11247120" cy="1051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36454F"/>
                </a:solidFill>
                <a:latin typeface="Calibri"/>
              </a:rPr>
              <a:t>•  D's outputs settle at σ(real) ≈ 0.65  vs  σ(fake) ≈ 0.35 — well above the 0.5 random baseline.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36454F"/>
                </a:solidFill>
                <a:latin typeface="Calibri"/>
              </a:rPr>
              <a:t>•  d_loss stays near 0.85 while g_loss climbs to 3–5 — the discriminator wins consistently.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36454F"/>
                </a:solidFill>
                <a:latin typeface="Calibri"/>
              </a:rPr>
              <a:t>•  The open question is how this signal is weighted in the total loss, not the discriminator's capacity.</a:t>
            </a:r>
          </a:p>
        </p:txBody>
      </p:sp>
      <p:pic>
        <p:nvPicPr>
          <p:cNvPr id="7" name="Picture 6" descr="fig_6_6_empirical_diagno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2530" y="1280160"/>
            <a:ext cx="7346634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11480"/>
            <a:ext cx="777240" cy="347472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65760"/>
            <a:ext cx="105156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212121"/>
                </a:solidFill>
                <a:latin typeface="Calibri"/>
              </a:rPr>
              <a:t>Backbone alternative: why we tried WavLM (and what we found)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8686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B7280"/>
                </a:solidFill>
                <a:latin typeface="Calibri"/>
              </a:rPr>
              <a:t>Same 24-layer Transformer architecture as HuBERT; different pretraining objective.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715000"/>
            <a:ext cx="11247120" cy="1051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36454F"/>
                </a:solidFill>
                <a:latin typeface="Calibri"/>
              </a:rPr>
              <a:t>•  WavLM (Chen et al. 2022): masked prediction + utterance MIXING + denoising — designed for speaker tasks.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36454F"/>
                </a:solidFill>
                <a:latin typeface="Calibri"/>
              </a:rPr>
              <a:t>•  Empirical: WavLM gives EER 3.71%  vs  HuBERT 3.48% — WavLM is actually WORSE in our setup.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36454F"/>
                </a:solidFill>
                <a:latin typeface="Calibri"/>
              </a:rPr>
              <a:t>•  Cause: seq_len=1 input collapses self-attention to identity, erasing WavLM's sequence-level advantages.</a:t>
            </a:r>
          </a:p>
        </p:txBody>
      </p:sp>
      <p:pic>
        <p:nvPicPr>
          <p:cNvPr id="7" name="Picture 6" descr="fig_6_5_wavlm_vs_hube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6368" y="1280160"/>
            <a:ext cx="6218959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1">
                <a:solidFill>
                  <a:srgbClr val="E76F51"/>
                </a:solidFill>
                <a:latin typeface="Calibri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Five mechanistic answers — one architectural finding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731520" cy="329184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Q1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901952"/>
            <a:ext cx="100584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Adapter projects embedding into HuBERT's hidden-state space — no conv extractor used.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560320"/>
            <a:ext cx="731520" cy="329184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Q2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542032"/>
            <a:ext cx="100584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D = adapter + 24-L Transformer + multi-layer pool + classifier head, 326M total.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200400"/>
            <a:ext cx="731520" cy="329184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Q3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3182112"/>
            <a:ext cx="100584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Standard GAN alternation: opt_D step, then opt_M step, every batch.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840480"/>
            <a:ext cx="731520" cy="329184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Q4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3822192"/>
            <a:ext cx="100584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Frozen HuBERT still passes gradient through to the encoder — only updates are blocked.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480560"/>
            <a:ext cx="731520" cy="329184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Q5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4462272"/>
            <a:ext cx="100584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D works (σ 0.65 vs 0.35).  Discrimination is happening — capacity is not the bottleneck.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120640"/>
            <a:ext cx="731520" cy="329184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5102352"/>
            <a:ext cx="100584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WavLM tried; underperformed HuBERT (3.71% vs 3.48%) — seq_len=1 collapses its advantage.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Open question:  how should the adversarial signal be weighted in the total loss?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